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FD383-2C49-ED36-0259-EB4A47DCFB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F4E36B4-0764-3CAB-32EA-8217032575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ECD7318-4F2B-79E6-9B4B-4110B0BABEAE}"/>
              </a:ext>
            </a:extLst>
          </p:cNvPr>
          <p:cNvSpPr>
            <a:spLocks noGrp="1"/>
          </p:cNvSpPr>
          <p:nvPr>
            <p:ph type="dt" sz="half" idx="10"/>
          </p:nvPr>
        </p:nvSpPr>
        <p:spPr/>
        <p:txBody>
          <a:bodyPr/>
          <a:lstStyle/>
          <a:p>
            <a:fld id="{975269D5-1CCC-4839-A470-4409618458EB}" type="datetimeFigureOut">
              <a:rPr lang="en-IN" smtClean="0"/>
              <a:t>15-05-2026</a:t>
            </a:fld>
            <a:endParaRPr lang="en-IN"/>
          </a:p>
        </p:txBody>
      </p:sp>
      <p:sp>
        <p:nvSpPr>
          <p:cNvPr id="5" name="Footer Placeholder 4">
            <a:extLst>
              <a:ext uri="{FF2B5EF4-FFF2-40B4-BE49-F238E27FC236}">
                <a16:creationId xmlns:a16="http://schemas.microsoft.com/office/drawing/2014/main" id="{396C1658-4EEC-4356-5F0D-DCFA3CFF4C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B1FFEC-283D-CA41-A409-A5F22E6DFC1E}"/>
              </a:ext>
            </a:extLst>
          </p:cNvPr>
          <p:cNvSpPr>
            <a:spLocks noGrp="1"/>
          </p:cNvSpPr>
          <p:nvPr>
            <p:ph type="sldNum" sz="quarter" idx="12"/>
          </p:nvPr>
        </p:nvSpPr>
        <p:spPr/>
        <p:txBody>
          <a:bodyPr/>
          <a:lstStyle/>
          <a:p>
            <a:fld id="{A9B80809-6108-410B-818D-1C95ACC7A007}" type="slidenum">
              <a:rPr lang="en-IN" smtClean="0"/>
              <a:t>‹#›</a:t>
            </a:fld>
            <a:endParaRPr lang="en-IN"/>
          </a:p>
        </p:txBody>
      </p:sp>
    </p:spTree>
    <p:extLst>
      <p:ext uri="{BB962C8B-B14F-4D97-AF65-F5344CB8AC3E}">
        <p14:creationId xmlns:p14="http://schemas.microsoft.com/office/powerpoint/2010/main" val="3093655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DD8E2-D602-DCE4-A46F-C5FB7BE0C7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92B2CA-4287-FA31-9B18-8FD7A23FE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F96563-C593-90B0-BC59-72DC46DDB16C}"/>
              </a:ext>
            </a:extLst>
          </p:cNvPr>
          <p:cNvSpPr>
            <a:spLocks noGrp="1"/>
          </p:cNvSpPr>
          <p:nvPr>
            <p:ph type="dt" sz="half" idx="10"/>
          </p:nvPr>
        </p:nvSpPr>
        <p:spPr/>
        <p:txBody>
          <a:bodyPr/>
          <a:lstStyle/>
          <a:p>
            <a:fld id="{975269D5-1CCC-4839-A470-4409618458EB}" type="datetimeFigureOut">
              <a:rPr lang="en-IN" smtClean="0"/>
              <a:t>15-05-2026</a:t>
            </a:fld>
            <a:endParaRPr lang="en-IN"/>
          </a:p>
        </p:txBody>
      </p:sp>
      <p:sp>
        <p:nvSpPr>
          <p:cNvPr id="5" name="Footer Placeholder 4">
            <a:extLst>
              <a:ext uri="{FF2B5EF4-FFF2-40B4-BE49-F238E27FC236}">
                <a16:creationId xmlns:a16="http://schemas.microsoft.com/office/drawing/2014/main" id="{F9D5A3E1-7432-5033-089A-5D4CC379F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D629A1-4C84-F30F-7AF2-DAEA43E9D583}"/>
              </a:ext>
            </a:extLst>
          </p:cNvPr>
          <p:cNvSpPr>
            <a:spLocks noGrp="1"/>
          </p:cNvSpPr>
          <p:nvPr>
            <p:ph type="sldNum" sz="quarter" idx="12"/>
          </p:nvPr>
        </p:nvSpPr>
        <p:spPr/>
        <p:txBody>
          <a:bodyPr/>
          <a:lstStyle/>
          <a:p>
            <a:fld id="{A9B80809-6108-410B-818D-1C95ACC7A007}" type="slidenum">
              <a:rPr lang="en-IN" smtClean="0"/>
              <a:t>‹#›</a:t>
            </a:fld>
            <a:endParaRPr lang="en-IN"/>
          </a:p>
        </p:txBody>
      </p:sp>
    </p:spTree>
    <p:extLst>
      <p:ext uri="{BB962C8B-B14F-4D97-AF65-F5344CB8AC3E}">
        <p14:creationId xmlns:p14="http://schemas.microsoft.com/office/powerpoint/2010/main" val="1556868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7DDE3-E19B-D044-12D9-FC817A398F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142C2D0-81C9-6736-264C-BCF98972A2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302198-8F36-6D55-23BA-AB907924C607}"/>
              </a:ext>
            </a:extLst>
          </p:cNvPr>
          <p:cNvSpPr>
            <a:spLocks noGrp="1"/>
          </p:cNvSpPr>
          <p:nvPr>
            <p:ph type="dt" sz="half" idx="10"/>
          </p:nvPr>
        </p:nvSpPr>
        <p:spPr/>
        <p:txBody>
          <a:bodyPr/>
          <a:lstStyle/>
          <a:p>
            <a:fld id="{975269D5-1CCC-4839-A470-4409618458EB}" type="datetimeFigureOut">
              <a:rPr lang="en-IN" smtClean="0"/>
              <a:t>15-05-2026</a:t>
            </a:fld>
            <a:endParaRPr lang="en-IN"/>
          </a:p>
        </p:txBody>
      </p:sp>
      <p:sp>
        <p:nvSpPr>
          <p:cNvPr id="5" name="Footer Placeholder 4">
            <a:extLst>
              <a:ext uri="{FF2B5EF4-FFF2-40B4-BE49-F238E27FC236}">
                <a16:creationId xmlns:a16="http://schemas.microsoft.com/office/drawing/2014/main" id="{E57EFB61-4C62-8B57-6D32-3BF6F7EE7D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8A166D-FAF6-0389-2B0C-3CB9F121BF20}"/>
              </a:ext>
            </a:extLst>
          </p:cNvPr>
          <p:cNvSpPr>
            <a:spLocks noGrp="1"/>
          </p:cNvSpPr>
          <p:nvPr>
            <p:ph type="sldNum" sz="quarter" idx="12"/>
          </p:nvPr>
        </p:nvSpPr>
        <p:spPr/>
        <p:txBody>
          <a:bodyPr/>
          <a:lstStyle/>
          <a:p>
            <a:fld id="{A9B80809-6108-410B-818D-1C95ACC7A007}" type="slidenum">
              <a:rPr lang="en-IN" smtClean="0"/>
              <a:t>‹#›</a:t>
            </a:fld>
            <a:endParaRPr lang="en-IN"/>
          </a:p>
        </p:txBody>
      </p:sp>
    </p:spTree>
    <p:extLst>
      <p:ext uri="{BB962C8B-B14F-4D97-AF65-F5344CB8AC3E}">
        <p14:creationId xmlns:p14="http://schemas.microsoft.com/office/powerpoint/2010/main" val="1244070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3226B-3867-D50E-13FF-C5D3B38F2D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A0B967-EFCD-CDD1-0171-46864A7A62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3BEEC4-3C5D-E4CF-C9CE-5B10D9096C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FAF9AFB-19A0-E4DA-9554-C8F21065B418}"/>
              </a:ext>
            </a:extLst>
          </p:cNvPr>
          <p:cNvSpPr>
            <a:spLocks noGrp="1"/>
          </p:cNvSpPr>
          <p:nvPr>
            <p:ph type="dt" sz="half" idx="10"/>
          </p:nvPr>
        </p:nvSpPr>
        <p:spPr/>
        <p:txBody>
          <a:bodyPr/>
          <a:lstStyle/>
          <a:p>
            <a:fld id="{975269D5-1CCC-4839-A470-4409618458EB}" type="datetimeFigureOut">
              <a:rPr lang="en-IN" smtClean="0"/>
              <a:t>15-05-2026</a:t>
            </a:fld>
            <a:endParaRPr lang="en-IN"/>
          </a:p>
        </p:txBody>
      </p:sp>
      <p:sp>
        <p:nvSpPr>
          <p:cNvPr id="6" name="Footer Placeholder 5">
            <a:extLst>
              <a:ext uri="{FF2B5EF4-FFF2-40B4-BE49-F238E27FC236}">
                <a16:creationId xmlns:a16="http://schemas.microsoft.com/office/drawing/2014/main" id="{366BB01F-31C9-47C0-A1A8-A0F4170684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DB009E-8B81-59FD-B32C-36E53D0D58E6}"/>
              </a:ext>
            </a:extLst>
          </p:cNvPr>
          <p:cNvSpPr>
            <a:spLocks noGrp="1"/>
          </p:cNvSpPr>
          <p:nvPr>
            <p:ph type="sldNum" sz="quarter" idx="12"/>
          </p:nvPr>
        </p:nvSpPr>
        <p:spPr/>
        <p:txBody>
          <a:bodyPr/>
          <a:lstStyle/>
          <a:p>
            <a:fld id="{A9B80809-6108-410B-818D-1C95ACC7A007}" type="slidenum">
              <a:rPr lang="en-IN" smtClean="0"/>
              <a:t>‹#›</a:t>
            </a:fld>
            <a:endParaRPr lang="en-IN"/>
          </a:p>
        </p:txBody>
      </p:sp>
    </p:spTree>
    <p:extLst>
      <p:ext uri="{BB962C8B-B14F-4D97-AF65-F5344CB8AC3E}">
        <p14:creationId xmlns:p14="http://schemas.microsoft.com/office/powerpoint/2010/main" val="1156086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D97DB-0ADC-4692-94D4-2C672454B1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D20E25-48E3-74F1-8E7A-1E26EF8019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38AF99-5F95-2B57-8327-E9FBBEA9B0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6C78DA1-9E48-1A87-2557-990F8E8E72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1560C0-B9E2-2218-4B70-BA31500561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70F285C-3BAE-2D2C-D3D1-88FB84A7EA0B}"/>
              </a:ext>
            </a:extLst>
          </p:cNvPr>
          <p:cNvSpPr>
            <a:spLocks noGrp="1"/>
          </p:cNvSpPr>
          <p:nvPr>
            <p:ph type="dt" sz="half" idx="10"/>
          </p:nvPr>
        </p:nvSpPr>
        <p:spPr/>
        <p:txBody>
          <a:bodyPr/>
          <a:lstStyle/>
          <a:p>
            <a:fld id="{975269D5-1CCC-4839-A470-4409618458EB}" type="datetimeFigureOut">
              <a:rPr lang="en-IN" smtClean="0"/>
              <a:t>15-05-2026</a:t>
            </a:fld>
            <a:endParaRPr lang="en-IN"/>
          </a:p>
        </p:txBody>
      </p:sp>
      <p:sp>
        <p:nvSpPr>
          <p:cNvPr id="8" name="Footer Placeholder 7">
            <a:extLst>
              <a:ext uri="{FF2B5EF4-FFF2-40B4-BE49-F238E27FC236}">
                <a16:creationId xmlns:a16="http://schemas.microsoft.com/office/drawing/2014/main" id="{DC339D97-32B2-62A1-A0E6-3A8451ECBAD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4E35600-2C7C-006E-D229-B15BF00C8F38}"/>
              </a:ext>
            </a:extLst>
          </p:cNvPr>
          <p:cNvSpPr>
            <a:spLocks noGrp="1"/>
          </p:cNvSpPr>
          <p:nvPr>
            <p:ph type="sldNum" sz="quarter" idx="12"/>
          </p:nvPr>
        </p:nvSpPr>
        <p:spPr/>
        <p:txBody>
          <a:bodyPr/>
          <a:lstStyle/>
          <a:p>
            <a:fld id="{A9B80809-6108-410B-818D-1C95ACC7A007}" type="slidenum">
              <a:rPr lang="en-IN" smtClean="0"/>
              <a:t>‹#›</a:t>
            </a:fld>
            <a:endParaRPr lang="en-IN"/>
          </a:p>
        </p:txBody>
      </p:sp>
    </p:spTree>
    <p:extLst>
      <p:ext uri="{BB962C8B-B14F-4D97-AF65-F5344CB8AC3E}">
        <p14:creationId xmlns:p14="http://schemas.microsoft.com/office/powerpoint/2010/main" val="529637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8B007-6F68-80AB-CDDF-FAF465561C1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1CF8410-ADD1-FC4A-153B-47AAA1FF05E1}"/>
              </a:ext>
            </a:extLst>
          </p:cNvPr>
          <p:cNvSpPr>
            <a:spLocks noGrp="1"/>
          </p:cNvSpPr>
          <p:nvPr>
            <p:ph type="dt" sz="half" idx="10"/>
          </p:nvPr>
        </p:nvSpPr>
        <p:spPr/>
        <p:txBody>
          <a:bodyPr/>
          <a:lstStyle/>
          <a:p>
            <a:fld id="{975269D5-1CCC-4839-A470-4409618458EB}" type="datetimeFigureOut">
              <a:rPr lang="en-IN" smtClean="0"/>
              <a:t>15-05-2026</a:t>
            </a:fld>
            <a:endParaRPr lang="en-IN"/>
          </a:p>
        </p:txBody>
      </p:sp>
      <p:sp>
        <p:nvSpPr>
          <p:cNvPr id="4" name="Footer Placeholder 3">
            <a:extLst>
              <a:ext uri="{FF2B5EF4-FFF2-40B4-BE49-F238E27FC236}">
                <a16:creationId xmlns:a16="http://schemas.microsoft.com/office/drawing/2014/main" id="{50220820-2A69-7E0C-F815-46B2916BCF7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3C06D68-6688-2399-F791-BD018A0533DB}"/>
              </a:ext>
            </a:extLst>
          </p:cNvPr>
          <p:cNvSpPr>
            <a:spLocks noGrp="1"/>
          </p:cNvSpPr>
          <p:nvPr>
            <p:ph type="sldNum" sz="quarter" idx="12"/>
          </p:nvPr>
        </p:nvSpPr>
        <p:spPr/>
        <p:txBody>
          <a:bodyPr/>
          <a:lstStyle/>
          <a:p>
            <a:fld id="{A9B80809-6108-410B-818D-1C95ACC7A007}" type="slidenum">
              <a:rPr lang="en-IN" smtClean="0"/>
              <a:t>‹#›</a:t>
            </a:fld>
            <a:endParaRPr lang="en-IN"/>
          </a:p>
        </p:txBody>
      </p:sp>
    </p:spTree>
    <p:extLst>
      <p:ext uri="{BB962C8B-B14F-4D97-AF65-F5344CB8AC3E}">
        <p14:creationId xmlns:p14="http://schemas.microsoft.com/office/powerpoint/2010/main" val="1308950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005FF9-9B6D-FF3D-D465-F9B5288D5000}"/>
              </a:ext>
            </a:extLst>
          </p:cNvPr>
          <p:cNvSpPr>
            <a:spLocks noGrp="1"/>
          </p:cNvSpPr>
          <p:nvPr>
            <p:ph type="dt" sz="half" idx="10"/>
          </p:nvPr>
        </p:nvSpPr>
        <p:spPr/>
        <p:txBody>
          <a:bodyPr/>
          <a:lstStyle/>
          <a:p>
            <a:fld id="{975269D5-1CCC-4839-A470-4409618458EB}" type="datetimeFigureOut">
              <a:rPr lang="en-IN" smtClean="0"/>
              <a:t>15-05-2026</a:t>
            </a:fld>
            <a:endParaRPr lang="en-IN"/>
          </a:p>
        </p:txBody>
      </p:sp>
      <p:sp>
        <p:nvSpPr>
          <p:cNvPr id="3" name="Footer Placeholder 2">
            <a:extLst>
              <a:ext uri="{FF2B5EF4-FFF2-40B4-BE49-F238E27FC236}">
                <a16:creationId xmlns:a16="http://schemas.microsoft.com/office/drawing/2014/main" id="{78F01CF4-A740-9572-FDF3-ED3DACFDB21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3582CBD-CCCF-7AEE-92E5-532942B11CB6}"/>
              </a:ext>
            </a:extLst>
          </p:cNvPr>
          <p:cNvSpPr>
            <a:spLocks noGrp="1"/>
          </p:cNvSpPr>
          <p:nvPr>
            <p:ph type="sldNum" sz="quarter" idx="12"/>
          </p:nvPr>
        </p:nvSpPr>
        <p:spPr/>
        <p:txBody>
          <a:bodyPr/>
          <a:lstStyle/>
          <a:p>
            <a:fld id="{A9B80809-6108-410B-818D-1C95ACC7A007}" type="slidenum">
              <a:rPr lang="en-IN" smtClean="0"/>
              <a:t>‹#›</a:t>
            </a:fld>
            <a:endParaRPr lang="en-IN"/>
          </a:p>
        </p:txBody>
      </p:sp>
    </p:spTree>
    <p:extLst>
      <p:ext uri="{BB962C8B-B14F-4D97-AF65-F5344CB8AC3E}">
        <p14:creationId xmlns:p14="http://schemas.microsoft.com/office/powerpoint/2010/main" val="19352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BE356-DB3B-875B-8BC8-4129D3AF81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0D91A1-D1A0-E7D9-6B53-966A1301B9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54C527A-50DC-6AE7-DAD2-BCBB262FC2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853B63-41F7-3EB7-DD8F-671C0269C325}"/>
              </a:ext>
            </a:extLst>
          </p:cNvPr>
          <p:cNvSpPr>
            <a:spLocks noGrp="1"/>
          </p:cNvSpPr>
          <p:nvPr>
            <p:ph type="dt" sz="half" idx="10"/>
          </p:nvPr>
        </p:nvSpPr>
        <p:spPr/>
        <p:txBody>
          <a:bodyPr/>
          <a:lstStyle/>
          <a:p>
            <a:fld id="{975269D5-1CCC-4839-A470-4409618458EB}" type="datetimeFigureOut">
              <a:rPr lang="en-IN" smtClean="0"/>
              <a:t>15-05-2026</a:t>
            </a:fld>
            <a:endParaRPr lang="en-IN"/>
          </a:p>
        </p:txBody>
      </p:sp>
      <p:sp>
        <p:nvSpPr>
          <p:cNvPr id="6" name="Footer Placeholder 5">
            <a:extLst>
              <a:ext uri="{FF2B5EF4-FFF2-40B4-BE49-F238E27FC236}">
                <a16:creationId xmlns:a16="http://schemas.microsoft.com/office/drawing/2014/main" id="{AF278C3F-78EF-141C-7C40-9A62BE17C5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0930B5-1E06-3BEE-ADC4-F8D34480F21F}"/>
              </a:ext>
            </a:extLst>
          </p:cNvPr>
          <p:cNvSpPr>
            <a:spLocks noGrp="1"/>
          </p:cNvSpPr>
          <p:nvPr>
            <p:ph type="sldNum" sz="quarter" idx="12"/>
          </p:nvPr>
        </p:nvSpPr>
        <p:spPr/>
        <p:txBody>
          <a:bodyPr/>
          <a:lstStyle/>
          <a:p>
            <a:fld id="{A9B80809-6108-410B-818D-1C95ACC7A007}" type="slidenum">
              <a:rPr lang="en-IN" smtClean="0"/>
              <a:t>‹#›</a:t>
            </a:fld>
            <a:endParaRPr lang="en-IN"/>
          </a:p>
        </p:txBody>
      </p:sp>
    </p:spTree>
    <p:extLst>
      <p:ext uri="{BB962C8B-B14F-4D97-AF65-F5344CB8AC3E}">
        <p14:creationId xmlns:p14="http://schemas.microsoft.com/office/powerpoint/2010/main" val="1208731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B0B66-E058-8C4C-2D59-271FF1870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5C8890A-C27B-6466-E09C-B8A3E6FF44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DD6D27A-061A-2B5A-D095-27E8208B56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546598-E108-2802-F3A5-BD644DF2804E}"/>
              </a:ext>
            </a:extLst>
          </p:cNvPr>
          <p:cNvSpPr>
            <a:spLocks noGrp="1"/>
          </p:cNvSpPr>
          <p:nvPr>
            <p:ph type="dt" sz="half" idx="10"/>
          </p:nvPr>
        </p:nvSpPr>
        <p:spPr/>
        <p:txBody>
          <a:bodyPr/>
          <a:lstStyle/>
          <a:p>
            <a:fld id="{975269D5-1CCC-4839-A470-4409618458EB}" type="datetimeFigureOut">
              <a:rPr lang="en-IN" smtClean="0"/>
              <a:t>15-05-2026</a:t>
            </a:fld>
            <a:endParaRPr lang="en-IN"/>
          </a:p>
        </p:txBody>
      </p:sp>
      <p:sp>
        <p:nvSpPr>
          <p:cNvPr id="6" name="Footer Placeholder 5">
            <a:extLst>
              <a:ext uri="{FF2B5EF4-FFF2-40B4-BE49-F238E27FC236}">
                <a16:creationId xmlns:a16="http://schemas.microsoft.com/office/drawing/2014/main" id="{A09BDC62-7EF8-CC1D-37C0-7977E8816C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FED84A-B731-FDCE-1118-32D93672ED43}"/>
              </a:ext>
            </a:extLst>
          </p:cNvPr>
          <p:cNvSpPr>
            <a:spLocks noGrp="1"/>
          </p:cNvSpPr>
          <p:nvPr>
            <p:ph type="sldNum" sz="quarter" idx="12"/>
          </p:nvPr>
        </p:nvSpPr>
        <p:spPr/>
        <p:txBody>
          <a:bodyPr/>
          <a:lstStyle/>
          <a:p>
            <a:fld id="{A9B80809-6108-410B-818D-1C95ACC7A007}" type="slidenum">
              <a:rPr lang="en-IN" smtClean="0"/>
              <a:t>‹#›</a:t>
            </a:fld>
            <a:endParaRPr lang="en-IN"/>
          </a:p>
        </p:txBody>
      </p:sp>
    </p:spTree>
    <p:extLst>
      <p:ext uri="{BB962C8B-B14F-4D97-AF65-F5344CB8AC3E}">
        <p14:creationId xmlns:p14="http://schemas.microsoft.com/office/powerpoint/2010/main" val="309923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E7206-2514-4054-D890-41A497AAE2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EE89FF-48DE-37DD-D8EB-8B73D814BB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F3DCF6-70F4-6B32-EF1B-5B386018EA2F}"/>
              </a:ext>
            </a:extLst>
          </p:cNvPr>
          <p:cNvSpPr>
            <a:spLocks noGrp="1"/>
          </p:cNvSpPr>
          <p:nvPr>
            <p:ph type="dt" sz="half" idx="10"/>
          </p:nvPr>
        </p:nvSpPr>
        <p:spPr/>
        <p:txBody>
          <a:bodyPr/>
          <a:lstStyle/>
          <a:p>
            <a:fld id="{975269D5-1CCC-4839-A470-4409618458EB}" type="datetimeFigureOut">
              <a:rPr lang="en-IN" smtClean="0"/>
              <a:t>15-05-2026</a:t>
            </a:fld>
            <a:endParaRPr lang="en-IN"/>
          </a:p>
        </p:txBody>
      </p:sp>
      <p:sp>
        <p:nvSpPr>
          <p:cNvPr id="5" name="Footer Placeholder 4">
            <a:extLst>
              <a:ext uri="{FF2B5EF4-FFF2-40B4-BE49-F238E27FC236}">
                <a16:creationId xmlns:a16="http://schemas.microsoft.com/office/drawing/2014/main" id="{2269EFD6-55CC-3AE5-6537-C145A86109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20006D-1F72-D93F-7294-81C85864F56B}"/>
              </a:ext>
            </a:extLst>
          </p:cNvPr>
          <p:cNvSpPr>
            <a:spLocks noGrp="1"/>
          </p:cNvSpPr>
          <p:nvPr>
            <p:ph type="sldNum" sz="quarter" idx="12"/>
          </p:nvPr>
        </p:nvSpPr>
        <p:spPr/>
        <p:txBody>
          <a:bodyPr/>
          <a:lstStyle/>
          <a:p>
            <a:fld id="{A9B80809-6108-410B-818D-1C95ACC7A007}" type="slidenum">
              <a:rPr lang="en-IN" smtClean="0"/>
              <a:t>‹#›</a:t>
            </a:fld>
            <a:endParaRPr lang="en-IN"/>
          </a:p>
        </p:txBody>
      </p:sp>
    </p:spTree>
    <p:extLst>
      <p:ext uri="{BB962C8B-B14F-4D97-AF65-F5344CB8AC3E}">
        <p14:creationId xmlns:p14="http://schemas.microsoft.com/office/powerpoint/2010/main" val="251902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943E8D-D39F-C45D-EEAB-418A13B584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6863AE-CB0D-BD41-2A1E-86A02348AD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DE7DD0-54ED-A568-1858-15C59A66432A}"/>
              </a:ext>
            </a:extLst>
          </p:cNvPr>
          <p:cNvSpPr>
            <a:spLocks noGrp="1"/>
          </p:cNvSpPr>
          <p:nvPr>
            <p:ph type="dt" sz="half" idx="10"/>
          </p:nvPr>
        </p:nvSpPr>
        <p:spPr/>
        <p:txBody>
          <a:bodyPr/>
          <a:lstStyle/>
          <a:p>
            <a:fld id="{975269D5-1CCC-4839-A470-4409618458EB}" type="datetimeFigureOut">
              <a:rPr lang="en-IN" smtClean="0"/>
              <a:t>15-05-2026</a:t>
            </a:fld>
            <a:endParaRPr lang="en-IN"/>
          </a:p>
        </p:txBody>
      </p:sp>
      <p:sp>
        <p:nvSpPr>
          <p:cNvPr id="5" name="Footer Placeholder 4">
            <a:extLst>
              <a:ext uri="{FF2B5EF4-FFF2-40B4-BE49-F238E27FC236}">
                <a16:creationId xmlns:a16="http://schemas.microsoft.com/office/drawing/2014/main" id="{CBB799EC-A2E2-4E0C-C7AD-AAE5ABBC8B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7016F1-2571-B87E-D1D8-87D9781040E1}"/>
              </a:ext>
            </a:extLst>
          </p:cNvPr>
          <p:cNvSpPr>
            <a:spLocks noGrp="1"/>
          </p:cNvSpPr>
          <p:nvPr>
            <p:ph type="sldNum" sz="quarter" idx="12"/>
          </p:nvPr>
        </p:nvSpPr>
        <p:spPr/>
        <p:txBody>
          <a:bodyPr/>
          <a:lstStyle/>
          <a:p>
            <a:fld id="{A9B80809-6108-410B-818D-1C95ACC7A007}" type="slidenum">
              <a:rPr lang="en-IN" smtClean="0"/>
              <a:t>‹#›</a:t>
            </a:fld>
            <a:endParaRPr lang="en-IN"/>
          </a:p>
        </p:txBody>
      </p:sp>
    </p:spTree>
    <p:extLst>
      <p:ext uri="{BB962C8B-B14F-4D97-AF65-F5344CB8AC3E}">
        <p14:creationId xmlns:p14="http://schemas.microsoft.com/office/powerpoint/2010/main" val="1331477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7AEF1A-4BB4-E00D-E3DE-A63FAEF1D0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2B152C-615F-3568-E807-FAC2F0F366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EE1515-0DBB-E4C4-BE87-5D041A38EF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5269D5-1CCC-4839-A470-4409618458EB}" type="datetimeFigureOut">
              <a:rPr lang="en-IN" smtClean="0"/>
              <a:t>15-05-2026</a:t>
            </a:fld>
            <a:endParaRPr lang="en-IN"/>
          </a:p>
        </p:txBody>
      </p:sp>
      <p:sp>
        <p:nvSpPr>
          <p:cNvPr id="5" name="Footer Placeholder 4">
            <a:extLst>
              <a:ext uri="{FF2B5EF4-FFF2-40B4-BE49-F238E27FC236}">
                <a16:creationId xmlns:a16="http://schemas.microsoft.com/office/drawing/2014/main" id="{6FCDE65F-754D-8121-EDF2-C585F83845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F6BD44E-DEF4-4750-FEB9-B68CC2B0EC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B80809-6108-410B-818D-1C95ACC7A007}" type="slidenum">
              <a:rPr lang="en-IN" smtClean="0"/>
              <a:t>‹#›</a:t>
            </a:fld>
            <a:endParaRPr lang="en-IN"/>
          </a:p>
        </p:txBody>
      </p:sp>
    </p:spTree>
    <p:extLst>
      <p:ext uri="{BB962C8B-B14F-4D97-AF65-F5344CB8AC3E}">
        <p14:creationId xmlns:p14="http://schemas.microsoft.com/office/powerpoint/2010/main" val="1516458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6E7D2C-424A-F14A-88C9-D449D0A7F54E}"/>
              </a:ext>
            </a:extLst>
          </p:cNvPr>
          <p:cNvSpPr txBox="1"/>
          <p:nvPr/>
        </p:nvSpPr>
        <p:spPr>
          <a:xfrm>
            <a:off x="-64008" y="0"/>
            <a:ext cx="2077685" cy="369332"/>
          </a:xfrm>
          <a:prstGeom prst="rect">
            <a:avLst/>
          </a:prstGeom>
          <a:noFill/>
        </p:spPr>
        <p:txBody>
          <a:bodyPr wrap="none" rtlCol="0">
            <a:spAutoFit/>
          </a:bodyPr>
          <a:lstStyle/>
          <a:p>
            <a:r>
              <a:rPr lang="en-IN" b="1" dirty="0"/>
              <a:t>May 2026: Current</a:t>
            </a:r>
          </a:p>
        </p:txBody>
      </p:sp>
      <p:sp>
        <p:nvSpPr>
          <p:cNvPr id="6" name="Rectangle 5">
            <a:extLst>
              <a:ext uri="{FF2B5EF4-FFF2-40B4-BE49-F238E27FC236}">
                <a16:creationId xmlns:a16="http://schemas.microsoft.com/office/drawing/2014/main" id="{A6E6F449-3F31-7EEA-F3F9-339D7041DC16}"/>
              </a:ext>
            </a:extLst>
          </p:cNvPr>
          <p:cNvSpPr/>
          <p:nvPr/>
        </p:nvSpPr>
        <p:spPr>
          <a:xfrm>
            <a:off x="256032" y="484632"/>
            <a:ext cx="3529584" cy="206654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err="1">
                <a:solidFill>
                  <a:schemeClr val="tx1"/>
                </a:solidFill>
              </a:rPr>
              <a:t>CoRE</a:t>
            </a:r>
            <a:r>
              <a:rPr lang="en-IN" dirty="0">
                <a:solidFill>
                  <a:schemeClr val="tx1"/>
                </a:solidFill>
              </a:rPr>
              <a:t> stack backend</a:t>
            </a:r>
          </a:p>
          <a:p>
            <a:pPr marL="285750" indent="-285750">
              <a:buFontTx/>
              <a:buChar char="-"/>
            </a:pPr>
            <a:r>
              <a:rPr lang="en-IN" dirty="0">
                <a:solidFill>
                  <a:schemeClr val="tx1"/>
                </a:solidFill>
              </a:rPr>
              <a:t>Multiple pipelines that run on GEE -&gt; Produce tehsil-level raster and vector files</a:t>
            </a:r>
          </a:p>
          <a:p>
            <a:pPr marL="285750" indent="-285750">
              <a:buFontTx/>
              <a:buChar char="-"/>
            </a:pPr>
            <a:r>
              <a:rPr lang="en-IN" dirty="0">
                <a:solidFill>
                  <a:schemeClr val="tx1"/>
                </a:solidFill>
              </a:rPr>
              <a:t>Data for a given entity is spread across multiple files</a:t>
            </a:r>
          </a:p>
          <a:p>
            <a:pPr marL="285750" indent="-285750">
              <a:buFontTx/>
              <a:buChar char="-"/>
            </a:pPr>
            <a:r>
              <a:rPr lang="en-IN" dirty="0">
                <a:solidFill>
                  <a:schemeClr val="tx1"/>
                </a:solidFill>
              </a:rPr>
              <a:t>STAC specs describe each file</a:t>
            </a:r>
          </a:p>
        </p:txBody>
      </p:sp>
      <p:sp>
        <p:nvSpPr>
          <p:cNvPr id="7" name="Rectangle 6">
            <a:extLst>
              <a:ext uri="{FF2B5EF4-FFF2-40B4-BE49-F238E27FC236}">
                <a16:creationId xmlns:a16="http://schemas.microsoft.com/office/drawing/2014/main" id="{B8DF512E-EF0A-28AD-B257-5EBE622E0B4E}"/>
              </a:ext>
            </a:extLst>
          </p:cNvPr>
          <p:cNvSpPr/>
          <p:nvPr/>
        </p:nvSpPr>
        <p:spPr>
          <a:xfrm>
            <a:off x="4227578" y="484632"/>
            <a:ext cx="3529584" cy="206654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err="1">
                <a:solidFill>
                  <a:schemeClr val="tx1"/>
                </a:solidFill>
              </a:rPr>
              <a:t>CoRE</a:t>
            </a:r>
            <a:r>
              <a:rPr lang="en-IN" dirty="0">
                <a:solidFill>
                  <a:schemeClr val="tx1"/>
                </a:solidFill>
              </a:rPr>
              <a:t> stack backend</a:t>
            </a:r>
          </a:p>
          <a:p>
            <a:pPr marL="285750" indent="-285750">
              <a:buFontTx/>
              <a:buChar char="-"/>
            </a:pPr>
            <a:r>
              <a:rPr lang="en-IN" dirty="0">
                <a:solidFill>
                  <a:schemeClr val="tx1"/>
                </a:solidFill>
              </a:rPr>
              <a:t>APIs help pull together data from multiple sources to provide a comprehensive view for entity</a:t>
            </a:r>
          </a:p>
          <a:p>
            <a:pPr marL="285750" indent="-285750">
              <a:buFontTx/>
              <a:buChar char="-"/>
            </a:pPr>
            <a:r>
              <a:rPr lang="en-IN" dirty="0">
                <a:solidFill>
                  <a:schemeClr val="tx1"/>
                </a:solidFill>
              </a:rPr>
              <a:t>Also archived in static JSONs</a:t>
            </a:r>
          </a:p>
        </p:txBody>
      </p:sp>
      <p:sp>
        <p:nvSpPr>
          <p:cNvPr id="8" name="Rectangle 7">
            <a:extLst>
              <a:ext uri="{FF2B5EF4-FFF2-40B4-BE49-F238E27FC236}">
                <a16:creationId xmlns:a16="http://schemas.microsoft.com/office/drawing/2014/main" id="{38563B00-9051-AB6A-EEB2-C558E84EB6F9}"/>
              </a:ext>
            </a:extLst>
          </p:cNvPr>
          <p:cNvSpPr/>
          <p:nvPr/>
        </p:nvSpPr>
        <p:spPr>
          <a:xfrm>
            <a:off x="8199124" y="493776"/>
            <a:ext cx="3529584" cy="206654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err="1">
                <a:solidFill>
                  <a:schemeClr val="tx1"/>
                </a:solidFill>
              </a:rPr>
              <a:t>CoRE</a:t>
            </a:r>
            <a:r>
              <a:rPr lang="en-IN" dirty="0">
                <a:solidFill>
                  <a:schemeClr val="tx1"/>
                </a:solidFill>
              </a:rPr>
              <a:t> stack frontend: KYL, CC</a:t>
            </a:r>
          </a:p>
          <a:p>
            <a:pPr marL="285750" indent="-285750">
              <a:buFontTx/>
              <a:buChar char="-"/>
            </a:pPr>
            <a:r>
              <a:rPr lang="en-IN" dirty="0">
                <a:solidFill>
                  <a:schemeClr val="tx1"/>
                </a:solidFill>
              </a:rPr>
              <a:t>Operate on a mix of APIs, JSONs, and layers</a:t>
            </a:r>
          </a:p>
          <a:p>
            <a:pPr marL="285750" indent="-285750">
              <a:buFontTx/>
              <a:buChar char="-"/>
            </a:pPr>
            <a:r>
              <a:rPr lang="en-IN" dirty="0">
                <a:solidFill>
                  <a:schemeClr val="tx1"/>
                </a:solidFill>
              </a:rPr>
              <a:t>Also do some computations themselves on the frontend, minor though</a:t>
            </a:r>
          </a:p>
        </p:txBody>
      </p:sp>
      <p:sp>
        <p:nvSpPr>
          <p:cNvPr id="9" name="TextBox 8">
            <a:extLst>
              <a:ext uri="{FF2B5EF4-FFF2-40B4-BE49-F238E27FC236}">
                <a16:creationId xmlns:a16="http://schemas.microsoft.com/office/drawing/2014/main" id="{5BA09011-D1AE-9827-0E74-EA183B4058F2}"/>
              </a:ext>
            </a:extLst>
          </p:cNvPr>
          <p:cNvSpPr txBox="1"/>
          <p:nvPr/>
        </p:nvSpPr>
        <p:spPr>
          <a:xfrm>
            <a:off x="0" y="3956304"/>
            <a:ext cx="1321196" cy="646331"/>
          </a:xfrm>
          <a:prstGeom prst="rect">
            <a:avLst/>
          </a:prstGeom>
          <a:noFill/>
        </p:spPr>
        <p:txBody>
          <a:bodyPr wrap="none" rtlCol="0">
            <a:spAutoFit/>
          </a:bodyPr>
          <a:lstStyle/>
          <a:p>
            <a:r>
              <a:rPr lang="en-IN" b="1" dirty="0"/>
              <a:t>June 2026: </a:t>
            </a:r>
          </a:p>
          <a:p>
            <a:r>
              <a:rPr lang="en-IN" b="1" dirty="0"/>
              <a:t>Ongoing</a:t>
            </a:r>
          </a:p>
        </p:txBody>
      </p:sp>
      <p:sp>
        <p:nvSpPr>
          <p:cNvPr id="10" name="Rectangle 9">
            <a:extLst>
              <a:ext uri="{FF2B5EF4-FFF2-40B4-BE49-F238E27FC236}">
                <a16:creationId xmlns:a16="http://schemas.microsoft.com/office/drawing/2014/main" id="{0CEE2E3E-A660-5AEA-44BE-1351D34E209C}"/>
              </a:ext>
            </a:extLst>
          </p:cNvPr>
          <p:cNvSpPr/>
          <p:nvPr/>
        </p:nvSpPr>
        <p:spPr>
          <a:xfrm>
            <a:off x="256032" y="4663440"/>
            <a:ext cx="3529584" cy="206654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err="1">
                <a:solidFill>
                  <a:schemeClr val="tx1"/>
                </a:solidFill>
              </a:rPr>
              <a:t>CoRE</a:t>
            </a:r>
            <a:r>
              <a:rPr lang="en-IN" dirty="0">
                <a:solidFill>
                  <a:schemeClr val="tx1"/>
                </a:solidFill>
              </a:rPr>
              <a:t> stack backend</a:t>
            </a:r>
          </a:p>
          <a:p>
            <a:pPr marL="285750" indent="-285750">
              <a:buFontTx/>
              <a:buChar char="-"/>
            </a:pPr>
            <a:r>
              <a:rPr lang="en-IN" dirty="0">
                <a:solidFill>
                  <a:schemeClr val="tx1"/>
                </a:solidFill>
              </a:rPr>
              <a:t>Modify to using local GPU workstations instead of GEE</a:t>
            </a:r>
          </a:p>
          <a:p>
            <a:pPr marL="285750" indent="-285750">
              <a:buFontTx/>
              <a:buChar char="-"/>
            </a:pPr>
            <a:r>
              <a:rPr lang="en-IN" dirty="0">
                <a:solidFill>
                  <a:schemeClr val="tx1"/>
                </a:solidFill>
              </a:rPr>
              <a:t>GEE to be used only for layers that require raw satellite data, like annual pan-India LULCs</a:t>
            </a:r>
          </a:p>
        </p:txBody>
      </p:sp>
      <p:sp>
        <p:nvSpPr>
          <p:cNvPr id="11" name="Rectangle 10">
            <a:extLst>
              <a:ext uri="{FF2B5EF4-FFF2-40B4-BE49-F238E27FC236}">
                <a16:creationId xmlns:a16="http://schemas.microsoft.com/office/drawing/2014/main" id="{61CA1A1F-7793-942F-01DC-DA9E5C06B0A0}"/>
              </a:ext>
            </a:extLst>
          </p:cNvPr>
          <p:cNvSpPr/>
          <p:nvPr/>
        </p:nvSpPr>
        <p:spPr>
          <a:xfrm>
            <a:off x="8199124" y="4663440"/>
            <a:ext cx="3529584" cy="206654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Parallel backend</a:t>
            </a:r>
          </a:p>
          <a:p>
            <a:pPr marL="285750" indent="-285750">
              <a:buFontTx/>
              <a:buChar char="-"/>
            </a:pPr>
            <a:r>
              <a:rPr lang="en-IN" dirty="0">
                <a:solidFill>
                  <a:schemeClr val="tx1"/>
                </a:solidFill>
              </a:rPr>
              <a:t>Trigger computations using STACD. Single-click generation of all layers for a location, instead of layer-by-layer or sub-graph based generation</a:t>
            </a:r>
          </a:p>
          <a:p>
            <a:pPr marL="285750" indent="-285750">
              <a:buFontTx/>
              <a:buChar char="-"/>
            </a:pPr>
            <a:r>
              <a:rPr lang="en-IN" dirty="0">
                <a:solidFill>
                  <a:schemeClr val="tx1"/>
                </a:solidFill>
              </a:rPr>
              <a:t>Trigger </a:t>
            </a:r>
            <a:r>
              <a:rPr lang="en-IN" dirty="0" err="1">
                <a:solidFill>
                  <a:schemeClr val="tx1"/>
                </a:solidFill>
              </a:rPr>
              <a:t>Geoparquet</a:t>
            </a:r>
            <a:r>
              <a:rPr lang="en-IN" dirty="0">
                <a:solidFill>
                  <a:schemeClr val="tx1"/>
                </a:solidFill>
              </a:rPr>
              <a:t> builds too</a:t>
            </a:r>
          </a:p>
        </p:txBody>
      </p:sp>
      <p:cxnSp>
        <p:nvCxnSpPr>
          <p:cNvPr id="13" name="Straight Arrow Connector 12">
            <a:extLst>
              <a:ext uri="{FF2B5EF4-FFF2-40B4-BE49-F238E27FC236}">
                <a16:creationId xmlns:a16="http://schemas.microsoft.com/office/drawing/2014/main" id="{ED05F5BF-AA1F-FA45-87C0-32733D3FD745}"/>
              </a:ext>
            </a:extLst>
          </p:cNvPr>
          <p:cNvCxnSpPr>
            <a:stCxn id="6" idx="3"/>
            <a:endCxn id="7" idx="1"/>
          </p:cNvCxnSpPr>
          <p:nvPr/>
        </p:nvCxnSpPr>
        <p:spPr>
          <a:xfrm>
            <a:off x="3785616" y="1517904"/>
            <a:ext cx="44196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17883854-5D32-5D1C-C52B-5DA68761F090}"/>
              </a:ext>
            </a:extLst>
          </p:cNvPr>
          <p:cNvCxnSpPr>
            <a:cxnSpLocks/>
            <a:stCxn id="7" idx="3"/>
            <a:endCxn id="8" idx="1"/>
          </p:cNvCxnSpPr>
          <p:nvPr/>
        </p:nvCxnSpPr>
        <p:spPr>
          <a:xfrm>
            <a:off x="7757162" y="1517904"/>
            <a:ext cx="441962" cy="91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Arrow: Down 16">
            <a:extLst>
              <a:ext uri="{FF2B5EF4-FFF2-40B4-BE49-F238E27FC236}">
                <a16:creationId xmlns:a16="http://schemas.microsoft.com/office/drawing/2014/main" id="{FE015BC4-AB65-0111-8D4B-DCA0FB73374A}"/>
              </a:ext>
            </a:extLst>
          </p:cNvPr>
          <p:cNvSpPr/>
          <p:nvPr/>
        </p:nvSpPr>
        <p:spPr>
          <a:xfrm>
            <a:off x="1778508" y="2551176"/>
            <a:ext cx="484632" cy="21031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465F8699-AC61-AE18-D4E3-018EC53723EB}"/>
              </a:ext>
            </a:extLst>
          </p:cNvPr>
          <p:cNvSpPr/>
          <p:nvPr/>
        </p:nvSpPr>
        <p:spPr>
          <a:xfrm>
            <a:off x="4227578" y="4663440"/>
            <a:ext cx="3529584" cy="206654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err="1">
                <a:solidFill>
                  <a:schemeClr val="tx1"/>
                </a:solidFill>
              </a:rPr>
              <a:t>CoRE</a:t>
            </a:r>
            <a:r>
              <a:rPr lang="en-IN" dirty="0">
                <a:solidFill>
                  <a:schemeClr val="tx1"/>
                </a:solidFill>
              </a:rPr>
              <a:t> stack library</a:t>
            </a:r>
          </a:p>
          <a:p>
            <a:pPr marL="285750" indent="-285750">
              <a:buFontTx/>
              <a:buChar char="-"/>
            </a:pPr>
            <a:r>
              <a:rPr lang="en-IN" dirty="0">
                <a:solidFill>
                  <a:schemeClr val="tx1"/>
                </a:solidFill>
              </a:rPr>
              <a:t>Build </a:t>
            </a:r>
            <a:r>
              <a:rPr lang="en-IN" dirty="0" err="1">
                <a:solidFill>
                  <a:schemeClr val="tx1"/>
                </a:solidFill>
              </a:rPr>
              <a:t>GeoParquets</a:t>
            </a:r>
            <a:r>
              <a:rPr lang="en-IN" dirty="0">
                <a:solidFill>
                  <a:schemeClr val="tx1"/>
                </a:solidFill>
              </a:rPr>
              <a:t> for vector data. One </a:t>
            </a:r>
            <a:r>
              <a:rPr lang="en-IN" dirty="0" err="1">
                <a:solidFill>
                  <a:schemeClr val="tx1"/>
                </a:solidFill>
              </a:rPr>
              <a:t>GeoParquet</a:t>
            </a:r>
            <a:r>
              <a:rPr lang="en-IN" dirty="0">
                <a:solidFill>
                  <a:schemeClr val="tx1"/>
                </a:solidFill>
              </a:rPr>
              <a:t> per entity type</a:t>
            </a:r>
          </a:p>
          <a:p>
            <a:pPr marL="285750" indent="-285750">
              <a:buFontTx/>
              <a:buChar char="-"/>
            </a:pPr>
            <a:r>
              <a:rPr lang="en-IN" dirty="0">
                <a:solidFill>
                  <a:schemeClr val="tx1"/>
                </a:solidFill>
              </a:rPr>
              <a:t>Renamed columns</a:t>
            </a:r>
          </a:p>
          <a:p>
            <a:pPr marL="285750" indent="-285750">
              <a:buFontTx/>
              <a:buChar char="-"/>
            </a:pPr>
            <a:r>
              <a:rPr lang="en-IN" dirty="0">
                <a:solidFill>
                  <a:schemeClr val="tx1"/>
                </a:solidFill>
              </a:rPr>
              <a:t>Standard structure for static datapoints, time-series, etc.</a:t>
            </a:r>
          </a:p>
        </p:txBody>
      </p:sp>
      <p:sp>
        <p:nvSpPr>
          <p:cNvPr id="22" name="Arrow: Bent-Up 21">
            <a:extLst>
              <a:ext uri="{FF2B5EF4-FFF2-40B4-BE49-F238E27FC236}">
                <a16:creationId xmlns:a16="http://schemas.microsoft.com/office/drawing/2014/main" id="{38F6C162-7B5C-06F2-F774-68969A4C22E4}"/>
              </a:ext>
            </a:extLst>
          </p:cNvPr>
          <p:cNvSpPr/>
          <p:nvPr/>
        </p:nvSpPr>
        <p:spPr>
          <a:xfrm flipV="1">
            <a:off x="2157984" y="4023367"/>
            <a:ext cx="3938016" cy="630923"/>
          </a:xfrm>
          <a:prstGeom prst="bentUpArrow">
            <a:avLst>
              <a:gd name="adj1" fmla="val 35145"/>
              <a:gd name="adj2" fmla="val 31522"/>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Bent-Up 22">
            <a:extLst>
              <a:ext uri="{FF2B5EF4-FFF2-40B4-BE49-F238E27FC236}">
                <a16:creationId xmlns:a16="http://schemas.microsoft.com/office/drawing/2014/main" id="{DC9BD728-598F-E864-2300-EE60EF8BE792}"/>
              </a:ext>
            </a:extLst>
          </p:cNvPr>
          <p:cNvSpPr/>
          <p:nvPr/>
        </p:nvSpPr>
        <p:spPr>
          <a:xfrm flipV="1">
            <a:off x="5992370" y="4026676"/>
            <a:ext cx="4248910" cy="630923"/>
          </a:xfrm>
          <a:prstGeom prst="bentUpArrow">
            <a:avLst>
              <a:gd name="adj1" fmla="val 35145"/>
              <a:gd name="adj2" fmla="val 31522"/>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1C825405-2350-8805-1722-0BC8566E296C}"/>
              </a:ext>
            </a:extLst>
          </p:cNvPr>
          <p:cNvSpPr/>
          <p:nvPr/>
        </p:nvSpPr>
        <p:spPr>
          <a:xfrm>
            <a:off x="2263140" y="2587755"/>
            <a:ext cx="9465568" cy="13898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Key problems:</a:t>
            </a:r>
          </a:p>
          <a:p>
            <a:pPr marL="285750" indent="-285750">
              <a:buFontTx/>
              <a:buChar char="-"/>
            </a:pPr>
            <a:r>
              <a:rPr lang="en-IN" dirty="0">
                <a:solidFill>
                  <a:schemeClr val="tx1"/>
                </a:solidFill>
              </a:rPr>
              <a:t>Changes in the structure of the underlying vector layers (column name changes, new columns, etc.) require changes at multiple points in the code. </a:t>
            </a:r>
          </a:p>
          <a:p>
            <a:pPr marL="285750" indent="-285750">
              <a:buFontTx/>
              <a:buChar char="-"/>
            </a:pPr>
            <a:r>
              <a:rPr lang="en-IN" dirty="0">
                <a:solidFill>
                  <a:schemeClr val="tx1"/>
                </a:solidFill>
              </a:rPr>
              <a:t>Computations are not isolated in one place, leads to bugs due to different people implementing these methods. </a:t>
            </a:r>
          </a:p>
        </p:txBody>
      </p:sp>
    </p:spTree>
    <p:extLst>
      <p:ext uri="{BB962C8B-B14F-4D97-AF65-F5344CB8AC3E}">
        <p14:creationId xmlns:p14="http://schemas.microsoft.com/office/powerpoint/2010/main" val="811534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06678-3856-A086-2A0C-357DFB09428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86BB781-F5E3-DB14-8F2E-591B18B05DEF}"/>
              </a:ext>
            </a:extLst>
          </p:cNvPr>
          <p:cNvSpPr/>
          <p:nvPr/>
        </p:nvSpPr>
        <p:spPr>
          <a:xfrm>
            <a:off x="256032" y="417576"/>
            <a:ext cx="3529584" cy="2225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err="1">
                <a:solidFill>
                  <a:schemeClr val="tx1"/>
                </a:solidFill>
              </a:rPr>
              <a:t>CoRE</a:t>
            </a:r>
            <a:r>
              <a:rPr lang="en-IN" dirty="0">
                <a:solidFill>
                  <a:schemeClr val="tx1"/>
                </a:solidFill>
              </a:rPr>
              <a:t> stack backend</a:t>
            </a:r>
          </a:p>
          <a:p>
            <a:pPr marL="285750" indent="-285750">
              <a:buFontTx/>
              <a:buChar char="-"/>
            </a:pPr>
            <a:r>
              <a:rPr lang="en-IN" dirty="0">
                <a:solidFill>
                  <a:schemeClr val="tx1"/>
                </a:solidFill>
              </a:rPr>
              <a:t>Well structured </a:t>
            </a:r>
            <a:r>
              <a:rPr lang="en-IN" dirty="0" err="1">
                <a:solidFill>
                  <a:schemeClr val="tx1"/>
                </a:solidFill>
              </a:rPr>
              <a:t>GeoParquets</a:t>
            </a:r>
            <a:r>
              <a:rPr lang="en-IN" dirty="0">
                <a:solidFill>
                  <a:schemeClr val="tx1"/>
                </a:solidFill>
              </a:rPr>
              <a:t> for vector data. </a:t>
            </a:r>
          </a:p>
          <a:p>
            <a:pPr marL="285750" indent="-285750">
              <a:buFontTx/>
              <a:buChar char="-"/>
            </a:pPr>
            <a:r>
              <a:rPr lang="en-IN" dirty="0">
                <a:solidFill>
                  <a:schemeClr val="tx1"/>
                </a:solidFill>
              </a:rPr>
              <a:t>Generated through STACD.</a:t>
            </a:r>
          </a:p>
          <a:p>
            <a:endParaRPr lang="en-IN" dirty="0">
              <a:solidFill>
                <a:schemeClr val="tx1"/>
              </a:solidFill>
            </a:endParaRPr>
          </a:p>
          <a:p>
            <a:r>
              <a:rPr lang="en-IN" dirty="0">
                <a:solidFill>
                  <a:schemeClr val="tx1"/>
                </a:solidFill>
              </a:rPr>
              <a:t>Handling of raster data: Do it through Raquet or new </a:t>
            </a:r>
            <a:r>
              <a:rPr lang="en-IN" dirty="0" err="1">
                <a:solidFill>
                  <a:schemeClr val="tx1"/>
                </a:solidFill>
              </a:rPr>
              <a:t>DuckDB</a:t>
            </a:r>
            <a:r>
              <a:rPr lang="en-IN" dirty="0">
                <a:solidFill>
                  <a:schemeClr val="tx1"/>
                </a:solidFill>
              </a:rPr>
              <a:t> geospatial extension.</a:t>
            </a:r>
          </a:p>
        </p:txBody>
      </p:sp>
      <p:sp>
        <p:nvSpPr>
          <p:cNvPr id="15" name="TextBox 14">
            <a:extLst>
              <a:ext uri="{FF2B5EF4-FFF2-40B4-BE49-F238E27FC236}">
                <a16:creationId xmlns:a16="http://schemas.microsoft.com/office/drawing/2014/main" id="{C2782C44-E37D-1903-D432-E7905F079FEF}"/>
              </a:ext>
            </a:extLst>
          </p:cNvPr>
          <p:cNvSpPr txBox="1"/>
          <p:nvPr/>
        </p:nvSpPr>
        <p:spPr>
          <a:xfrm>
            <a:off x="0" y="0"/>
            <a:ext cx="1736373" cy="369332"/>
          </a:xfrm>
          <a:prstGeom prst="rect">
            <a:avLst/>
          </a:prstGeom>
          <a:noFill/>
        </p:spPr>
        <p:txBody>
          <a:bodyPr wrap="none" rtlCol="0">
            <a:spAutoFit/>
          </a:bodyPr>
          <a:lstStyle/>
          <a:p>
            <a:r>
              <a:rPr lang="en-IN" b="1" dirty="0"/>
              <a:t>July 2026: Goal</a:t>
            </a:r>
          </a:p>
        </p:txBody>
      </p:sp>
      <p:sp>
        <p:nvSpPr>
          <p:cNvPr id="16" name="Rectangle 15">
            <a:extLst>
              <a:ext uri="{FF2B5EF4-FFF2-40B4-BE49-F238E27FC236}">
                <a16:creationId xmlns:a16="http://schemas.microsoft.com/office/drawing/2014/main" id="{4D9D7006-8EDD-199B-7526-AF09624388CA}"/>
              </a:ext>
            </a:extLst>
          </p:cNvPr>
          <p:cNvSpPr/>
          <p:nvPr/>
        </p:nvSpPr>
        <p:spPr>
          <a:xfrm>
            <a:off x="8199124" y="414528"/>
            <a:ext cx="3529584" cy="2225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err="1">
                <a:solidFill>
                  <a:schemeClr val="tx1"/>
                </a:solidFill>
              </a:rPr>
              <a:t>CoRE</a:t>
            </a:r>
            <a:r>
              <a:rPr lang="en-IN" dirty="0">
                <a:solidFill>
                  <a:schemeClr val="tx1"/>
                </a:solidFill>
              </a:rPr>
              <a:t> stack frontend: KYL, CC</a:t>
            </a:r>
          </a:p>
          <a:p>
            <a:pPr marL="285750" indent="-285750">
              <a:buFontTx/>
              <a:buChar char="-"/>
            </a:pPr>
            <a:r>
              <a:rPr lang="en-IN" dirty="0">
                <a:solidFill>
                  <a:schemeClr val="tx1"/>
                </a:solidFill>
              </a:rPr>
              <a:t>Read well formed data from the library invoked via an API.</a:t>
            </a:r>
          </a:p>
          <a:p>
            <a:pPr marL="285750" indent="-285750">
              <a:buFontTx/>
              <a:buChar char="-"/>
            </a:pPr>
            <a:r>
              <a:rPr lang="en-IN" dirty="0">
                <a:solidFill>
                  <a:schemeClr val="tx1"/>
                </a:solidFill>
              </a:rPr>
              <a:t>Library reads from </a:t>
            </a:r>
            <a:r>
              <a:rPr lang="en-IN" dirty="0" err="1">
                <a:solidFill>
                  <a:schemeClr val="tx1"/>
                </a:solidFill>
              </a:rPr>
              <a:t>GeoParquets</a:t>
            </a:r>
            <a:r>
              <a:rPr lang="en-IN" dirty="0">
                <a:solidFill>
                  <a:schemeClr val="tx1"/>
                </a:solidFill>
              </a:rPr>
              <a:t>.</a:t>
            </a:r>
          </a:p>
          <a:p>
            <a:endParaRPr lang="en-IN" dirty="0">
              <a:solidFill>
                <a:schemeClr val="tx1"/>
              </a:solidFill>
            </a:endParaRPr>
          </a:p>
          <a:p>
            <a:r>
              <a:rPr lang="en-IN" dirty="0">
                <a:solidFill>
                  <a:schemeClr val="tx1"/>
                </a:solidFill>
              </a:rPr>
              <a:t>Natural language frontend to the data using the library.</a:t>
            </a:r>
          </a:p>
        </p:txBody>
      </p:sp>
      <p:sp>
        <p:nvSpPr>
          <p:cNvPr id="23" name="TextBox 22">
            <a:extLst>
              <a:ext uri="{FF2B5EF4-FFF2-40B4-BE49-F238E27FC236}">
                <a16:creationId xmlns:a16="http://schemas.microsoft.com/office/drawing/2014/main" id="{E0A6358C-A75D-4FDB-EEA4-A21168149E07}"/>
              </a:ext>
            </a:extLst>
          </p:cNvPr>
          <p:cNvSpPr txBox="1"/>
          <p:nvPr/>
        </p:nvSpPr>
        <p:spPr>
          <a:xfrm>
            <a:off x="4227578" y="369332"/>
            <a:ext cx="3529584" cy="923330"/>
          </a:xfrm>
          <a:prstGeom prst="rect">
            <a:avLst/>
          </a:prstGeom>
          <a:noFill/>
        </p:spPr>
        <p:txBody>
          <a:bodyPr wrap="square" rtlCol="0">
            <a:spAutoFit/>
          </a:bodyPr>
          <a:lstStyle/>
          <a:p>
            <a:pPr algn="ctr"/>
            <a:r>
              <a:rPr lang="en-IN" b="1" dirty="0"/>
              <a:t>Eliminate need to maintain multiple copies of the same data</a:t>
            </a:r>
          </a:p>
        </p:txBody>
      </p:sp>
      <p:sp>
        <p:nvSpPr>
          <p:cNvPr id="25" name="Rectangle 24">
            <a:extLst>
              <a:ext uri="{FF2B5EF4-FFF2-40B4-BE49-F238E27FC236}">
                <a16:creationId xmlns:a16="http://schemas.microsoft.com/office/drawing/2014/main" id="{A651FFD6-2C49-0E4B-B070-CDF27A5BE04B}"/>
              </a:ext>
            </a:extLst>
          </p:cNvPr>
          <p:cNvSpPr/>
          <p:nvPr/>
        </p:nvSpPr>
        <p:spPr>
          <a:xfrm>
            <a:off x="256032" y="3404615"/>
            <a:ext cx="11472676" cy="3142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Have data arise from a single-source, be visible throughout the codebase, and make it easy to propagate any changes in the underlying layers to the frontend:</a:t>
            </a:r>
          </a:p>
          <a:p>
            <a:pPr marL="285750" indent="-285750">
              <a:buFontTx/>
              <a:buChar char="-"/>
            </a:pPr>
            <a:r>
              <a:rPr lang="en-IN" dirty="0">
                <a:solidFill>
                  <a:schemeClr val="tx1"/>
                </a:solidFill>
              </a:rPr>
              <a:t>Have global variables like start-year, end-year on which change detection and means and statistics are computed. Load base datasets accordingly and make the frontend flexible to pick up these variables. </a:t>
            </a:r>
          </a:p>
          <a:p>
            <a:pPr marL="285750" indent="-285750">
              <a:buFontTx/>
              <a:buChar char="-"/>
            </a:pPr>
            <a:r>
              <a:rPr lang="en-IN" dirty="0">
                <a:solidFill>
                  <a:schemeClr val="tx1"/>
                </a:solidFill>
              </a:rPr>
              <a:t>Make it easy to handle any changes in the underlying base layers. Currently, GEE or local GPU workflows process the layers and the pipelines will eventually write to specific columns in </a:t>
            </a:r>
            <a:r>
              <a:rPr lang="en-IN" dirty="0" err="1">
                <a:solidFill>
                  <a:schemeClr val="tx1"/>
                </a:solidFill>
              </a:rPr>
              <a:t>GeoParquets</a:t>
            </a:r>
            <a:r>
              <a:rPr lang="en-IN" dirty="0">
                <a:solidFill>
                  <a:schemeClr val="tx1"/>
                </a:solidFill>
              </a:rPr>
              <a:t>. Need to build a clean method to handle whether and how these changes should propagate to the frontend. </a:t>
            </a:r>
          </a:p>
          <a:p>
            <a:pPr marL="285750" indent="-285750">
              <a:buFontTx/>
              <a:buChar char="-"/>
            </a:pPr>
            <a:r>
              <a:rPr lang="en-IN" dirty="0">
                <a:solidFill>
                  <a:schemeClr val="tx1"/>
                </a:solidFill>
              </a:rPr>
              <a:t>Prepare a minimum generalized selection of base datasets that can be instantiated anywhere globally, so that local instances can be brought up by anyone for any choice of region like a country or group of countries. Frontend to be made flexible to pick up this smaller set of base datasets and their downstream variables.</a:t>
            </a:r>
          </a:p>
        </p:txBody>
      </p:sp>
      <p:sp>
        <p:nvSpPr>
          <p:cNvPr id="3" name="TextBox 2">
            <a:extLst>
              <a:ext uri="{FF2B5EF4-FFF2-40B4-BE49-F238E27FC236}">
                <a16:creationId xmlns:a16="http://schemas.microsoft.com/office/drawing/2014/main" id="{BC6AF536-0E2C-A714-6E4F-0DBFEC979ADE}"/>
              </a:ext>
            </a:extLst>
          </p:cNvPr>
          <p:cNvSpPr txBox="1"/>
          <p:nvPr/>
        </p:nvSpPr>
        <p:spPr>
          <a:xfrm>
            <a:off x="-1" y="2959608"/>
            <a:ext cx="2871684" cy="369332"/>
          </a:xfrm>
          <a:prstGeom prst="rect">
            <a:avLst/>
          </a:prstGeom>
          <a:noFill/>
        </p:spPr>
        <p:txBody>
          <a:bodyPr wrap="none" rtlCol="0">
            <a:spAutoFit/>
          </a:bodyPr>
          <a:lstStyle/>
          <a:p>
            <a:r>
              <a:rPr lang="en-IN" b="1" dirty="0"/>
              <a:t>Next set of improvements</a:t>
            </a:r>
          </a:p>
        </p:txBody>
      </p:sp>
    </p:spTree>
    <p:extLst>
      <p:ext uri="{BB962C8B-B14F-4D97-AF65-F5344CB8AC3E}">
        <p14:creationId xmlns:p14="http://schemas.microsoft.com/office/powerpoint/2010/main" val="1122309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4560</TotalTime>
  <Words>477</Words>
  <Application>Microsoft Office PowerPoint</Application>
  <PresentationFormat>Widescreen</PresentationFormat>
  <Paragraphs>43</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aaditeshwar aaditeshwar</dc:creator>
  <cp:lastModifiedBy>aaditeshwar aaditeshwar</cp:lastModifiedBy>
  <cp:revision>32</cp:revision>
  <dcterms:created xsi:type="dcterms:W3CDTF">2026-05-12T03:44:48Z</dcterms:created>
  <dcterms:modified xsi:type="dcterms:W3CDTF">2026-05-15T17:31:43Z</dcterms:modified>
</cp:coreProperties>
</file>